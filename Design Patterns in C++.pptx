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5"/>
  </p:notesMasterIdLst>
  <p:handoutMasterIdLst>
    <p:handoutMasterId r:id="rId16"/>
  </p:handoutMasterIdLst>
  <p:sldIdLst>
    <p:sldId id="256" r:id="rId5"/>
    <p:sldId id="1523" r:id="rId6"/>
    <p:sldId id="1515" r:id="rId7"/>
    <p:sldId id="1519" r:id="rId8"/>
    <p:sldId id="1516" r:id="rId9"/>
    <p:sldId id="1520" r:id="rId10"/>
    <p:sldId id="1517" r:id="rId11"/>
    <p:sldId id="1521" r:id="rId12"/>
    <p:sldId id="1518" r:id="rId13"/>
    <p:sldId id="1522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21DC7E-F0CA-44C1-AE7F-CF9918F8DFA4}" v="12" dt="2026-09-03T10:15:41.129"/>
    <p1510:client id="{E670B791-1E50-4FFB-8971-EA2D30EE1DD8}" v="169" dt="2026-09-03T20:42:49.71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 reusable solution to a problem that recurs again and again in software design — not a finished piece of code, but a template for how to solve it.</a:t>
            </a:r>
          </a:p>
          <a:p>
            <a:r>
              <a:rPr lang="en-US"/>
              <a:t>Captures the shared vocabulary experienced developers use to talk about structure ("just make it an Observer") instead of re-explaining the mechanics every time.</a:t>
            </a:r>
          </a:p>
          <a:p>
            <a:r>
              <a:rPr lang="en-US"/>
              <a:t>Not:</a:t>
            </a:r>
          </a:p>
          <a:p>
            <a:r>
              <a:rPr lang="en-US"/>
              <a:t>A library or framework you import</a:t>
            </a:r>
          </a:p>
          <a:p>
            <a:r>
              <a:rPr lang="en-US"/>
              <a:t>A silver bullet — the wrong pattern applied to the wrong problem adds complexity instead of removing it</a:t>
            </a:r>
          </a:p>
          <a:p>
            <a:r>
              <a:rPr lang="en-US"/>
              <a:t>Why they matter:</a:t>
            </a:r>
          </a:p>
          <a:p>
            <a:r>
              <a:rPr lang="en-US"/>
              <a:t>Faster communication with other engineers</a:t>
            </a:r>
          </a:p>
          <a:p>
            <a:r>
              <a:rPr lang="en-US"/>
              <a:t>Proven structure for problems you'll hit repeatedly (extensibility, decoupling, object creation)</a:t>
            </a:r>
          </a:p>
          <a:p>
            <a:r>
              <a:rPr lang="en-US"/>
              <a:t>Easier to spot in code reviews and existing codebases once you know the shapes</a:t>
            </a:r>
          </a:p>
          <a:p>
            <a:endParaRPr lang="en-US">
              <a:latin typeface="Calibri"/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0047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This idea — reusable, named solutions — got formalized in one book, in 1994, and the name stuck.</a:t>
            </a:r>
          </a:p>
          <a:p>
            <a:endParaRPr lang="en-US"/>
          </a:p>
          <a:p>
            <a:r>
              <a:rPr lang="en-US"/>
              <a:t>We're not going to cover all 23 today — we'll walk through 6 of them, hands-on, as before/after code.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66912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First category — Creational. These are about how objects get created, not what they do once they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86082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Second category — Structural. These are about how objects and classes are composed into larger structures.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26841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Last category — Behavioral. These are about how objects talk to each other and divide responsibility.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519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548642"/>
            <a:ext cx="7478991" cy="3635797"/>
          </a:xfrm>
        </p:spPr>
        <p:txBody>
          <a:bodyPr anchor="t">
            <a:normAutofit/>
          </a:bodyPr>
          <a:lstStyle>
            <a:lvl1pPr algn="l">
              <a:defRPr sz="7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73553"/>
            <a:ext cx="6655522" cy="1545336"/>
          </a:xfrm>
        </p:spPr>
        <p:txBody>
          <a:bodyPr anchor="b">
            <a:normAutofit/>
          </a:bodyPr>
          <a:lstStyle>
            <a:lvl1pPr marL="0" indent="0" algn="l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7B902-09B5-4324-8310-59625360F035}" type="datetime1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2964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8008" y="854239"/>
            <a:ext cx="7876287" cy="3592629"/>
          </a:xfrm>
        </p:spPr>
        <p:txBody>
          <a:bodyPr anchor="b">
            <a:normAutofit/>
          </a:bodyPr>
          <a:lstStyle>
            <a:lvl1pPr algn="l">
              <a:defRPr sz="7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8368" y="4617138"/>
            <a:ext cx="7375466" cy="1014984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B91A11-88E2-4BD0-90A5-503C684B9CC0}" type="datetime1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79543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18302"/>
            <a:ext cx="8229600" cy="2621154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03964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B19A73-9EF0-435E-951F-A4ACE59FBD85}" type="datetime1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04959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5218032"/>
            <a:ext cx="11460480" cy="786384"/>
          </a:xfrm>
        </p:spPr>
        <p:txBody>
          <a:bodyPr anchor="b">
            <a:normAutofit/>
          </a:bodyPr>
          <a:lstStyle>
            <a:lvl1pPr algn="l"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5972629"/>
            <a:ext cx="11460480" cy="480373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C72BE8CE-6011-4887-8688-8D57691F11AD}" type="datetime1">
              <a:rPr lang="en-US" smtClean="0"/>
              <a:t>9/3/2026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BC820F-C031-6832-5CA0-B972903E0D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7685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8896" y="1129554"/>
            <a:ext cx="4361688" cy="3475236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68897" y="4731335"/>
            <a:ext cx="4206240" cy="1184585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584950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68895" y="6453002"/>
            <a:ext cx="170762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86426EA-0386-4881-8D6D-3F08C95C4A7F}" type="datetime1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87511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411480"/>
            <a:ext cx="4654296" cy="3739896"/>
          </a:xfrm>
        </p:spPr>
        <p:txBody>
          <a:bodyPr anchor="t">
            <a:normAutofit/>
          </a:bodyPr>
          <a:lstStyle>
            <a:lvl1pPr algn="l">
              <a:defRPr sz="5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96128" y="0"/>
            <a:ext cx="6595872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7160" y="6453002"/>
            <a:ext cx="1951777" cy="365125"/>
          </a:xfrm>
        </p:spPr>
        <p:txBody>
          <a:bodyPr/>
          <a:lstStyle/>
          <a:p>
            <a:fld id="{1FE1A989-42EF-40B2-87AB-6941C231CD4A}" type="datetime1">
              <a:rPr lang="en-US" smtClean="0"/>
              <a:t>9/3/2026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88937" y="6453002"/>
            <a:ext cx="280540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4844578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20672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4320" y="1801368"/>
            <a:ext cx="7772400" cy="4572000"/>
          </a:xfrm>
        </p:spPr>
        <p:txBody>
          <a:bodyPr anchor="b">
            <a:normAutofit/>
          </a:bodyPr>
          <a:lstStyle>
            <a:lvl1pPr algn="l">
              <a:defRPr sz="7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2A7A0-B9EE-41A8-8016-28E5803F20B2}" type="datetime1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880959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4320" y="1801368"/>
            <a:ext cx="7772400" cy="4572000"/>
          </a:xfrm>
        </p:spPr>
        <p:txBody>
          <a:bodyPr anchor="b">
            <a:normAutofit/>
          </a:bodyPr>
          <a:lstStyle>
            <a:lvl1pPr algn="l">
              <a:defRPr sz="7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5176" y="484632"/>
            <a:ext cx="7772400" cy="59436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2A7A0-B9EE-41A8-8016-28E5803F20B2}" type="datetime1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2793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64108"/>
            <a:ext cx="8467558" cy="155448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7" y="2333860"/>
            <a:ext cx="8467558" cy="3689909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400"/>
            </a:lvl1pPr>
            <a:lvl2pPr marL="685800" indent="-457200">
              <a:buFont typeface="+mj-lt"/>
              <a:buAutoNum type="arabicPeriod"/>
              <a:defRPr sz="2000"/>
            </a:lvl2pPr>
            <a:lvl3pPr marL="800100" indent="-342900">
              <a:buFont typeface="+mj-lt"/>
              <a:buAutoNum type="arabicPeriod"/>
              <a:defRPr sz="1800"/>
            </a:lvl3pPr>
            <a:lvl4pPr marL="1028700" indent="-342900">
              <a:buFont typeface="+mj-lt"/>
              <a:buAutoNum type="arabicPeriod"/>
              <a:defRPr sz="1600"/>
            </a:lvl4pPr>
            <a:lvl5pPr marL="12573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60B404-9532-4DA8-8A40-EC339A5BE635}" type="datetime1">
              <a:rPr lang="en-US" smtClean="0"/>
              <a:t>9/3/2026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72081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0" y="1161288"/>
            <a:ext cx="4663440" cy="1554480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6099048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858000" y="2825496"/>
            <a:ext cx="4663440" cy="3337560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571500" indent="-342900">
              <a:buFont typeface="+mj-lt"/>
              <a:buAutoNum type="arabicPeriod"/>
              <a:defRPr sz="1800"/>
            </a:lvl2pPr>
            <a:lvl3pPr marL="800100" indent="-342900">
              <a:buFont typeface="+mj-lt"/>
              <a:buAutoNum type="arabicPeriod"/>
              <a:defRPr sz="1600"/>
            </a:lvl3pPr>
            <a:lvl4pPr marL="1028700" indent="-342900">
              <a:buFont typeface="+mj-lt"/>
              <a:buAutoNum type="arabicPeriod"/>
              <a:defRPr sz="1400"/>
            </a:lvl4pPr>
            <a:lvl5pPr>
              <a:buFont typeface="+mj-lt"/>
              <a:buAutoNum type="arabicPeriod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57999" y="6453002"/>
            <a:ext cx="1996689" cy="365125"/>
          </a:xfrm>
        </p:spPr>
        <p:txBody>
          <a:bodyPr/>
          <a:lstStyle/>
          <a:p>
            <a:fld id="{8A60B404-9532-4DA8-8A40-EC339A5BE635}" type="datetime1">
              <a:rPr lang="en-US" smtClean="0"/>
              <a:t>9/3/2026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5268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 1 (Max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" y="151598"/>
            <a:ext cx="11924209" cy="528186"/>
          </a:xfrm>
        </p:spPr>
        <p:txBody>
          <a:bodyPr anchor="ctr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" y="776036"/>
            <a:ext cx="11924209" cy="56769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6A364-A39C-470E-B89A-9BD899585684}" type="datetime1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51269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Only (Max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-1325880"/>
            <a:ext cx="10515600" cy="1325880"/>
          </a:xfrm>
        </p:spPr>
        <p:txBody>
          <a:bodyPr anchor="ctr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" y="367091"/>
            <a:ext cx="11924209" cy="612381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1C69CE-4771-4BFA-AD70-0E51ABA58D6D}" type="datetime1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86518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0E4242-8CA0-457D-B3B1-7D78B4164321}" type="datetime1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120301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385975"/>
            <a:ext cx="4325112" cy="2454796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3800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D6F41-6645-4089-A6BB-7B692A44A4CC}" type="datetime1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874180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258568"/>
            <a:ext cx="3813048" cy="355701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8B73AF-3955-4569-8B4F-B329360A9CBD}" type="datetime1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756409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1537853"/>
            <a:ext cx="4145582" cy="4638825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95276D-BBED-48BC-B459-1E9A16CF46CD}" type="datetime1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458674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877456"/>
            <a:ext cx="4142232" cy="4940661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38C57-8E3B-4697-92F8-0ED9B71F7E17}" type="datetime1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471166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33" y="548639"/>
            <a:ext cx="3494314" cy="5719639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549274"/>
            <a:ext cx="7315200" cy="58064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DC593-EA98-4C39-A75F-3F3A9C691019}" type="datetime1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661222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38937" y="548640"/>
            <a:ext cx="6093225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793885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38937" y="1828800"/>
            <a:ext cx="6071616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538937" y="6453002"/>
            <a:ext cx="3337584" cy="365125"/>
          </a:xfrm>
        </p:spPr>
        <p:txBody>
          <a:bodyPr/>
          <a:lstStyle/>
          <a:p>
            <a:fld id="{8FACD271-2BB0-4C13-9E3A-50B90F57CA5B}" type="datetime1">
              <a:rPr lang="en-US" smtClean="0"/>
              <a:t>9/3/2026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74929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613562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4" y="1828800"/>
            <a:ext cx="6135624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00544" y="0"/>
            <a:ext cx="4791456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9C4109C0-CC82-467C-B6E8-62D4D3634E2A}" type="datetime1">
              <a:rPr lang="en-US" smtClean="0"/>
              <a:t>9/3/2026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6453002"/>
            <a:ext cx="280540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706232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40470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5736" y="320040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45736" y="1380744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745736" y="6453002"/>
            <a:ext cx="3494314" cy="365125"/>
          </a:xfrm>
        </p:spPr>
        <p:txBody>
          <a:bodyPr/>
          <a:lstStyle/>
          <a:p>
            <a:fld id="{1A5F77D0-C28E-4573-88F0-0A30FF98888E}" type="datetime1">
              <a:rPr lang="en-US" smtClean="0"/>
              <a:t>9/3/2026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321719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320040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1380744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D1F1191D-5EC4-40DF-9DB6-A6385AB88B55}" type="datetime1">
              <a:rPr lang="en-US" smtClean="0"/>
              <a:t>9/3/2026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6453002"/>
            <a:ext cx="280540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41440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1976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53808" y="584339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611509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53745" y="2212975"/>
            <a:ext cx="4362450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53745" y="6453002"/>
            <a:ext cx="1622776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EE468DAA-49F6-4492-82E6-75555EB31418}" type="datetime1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734474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83413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2212975"/>
            <a:ext cx="4360863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53002"/>
            <a:ext cx="2031073" cy="365125"/>
          </a:xfrm>
        </p:spPr>
        <p:txBody>
          <a:bodyPr/>
          <a:lstStyle/>
          <a:p>
            <a:fld id="{41D22668-A3AE-429F-A351-A1583BA90793}" type="datetime1">
              <a:rPr lang="en-US" smtClean="0"/>
              <a:t>9/3/2026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45480" y="0"/>
            <a:ext cx="6446520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8008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4553" y="320040"/>
            <a:ext cx="4522936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0"/>
            <a:ext cx="6492240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04888" y="1380744"/>
            <a:ext cx="4512601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04491" y="6453002"/>
            <a:ext cx="1772029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B3A2E2B-8F4D-437C-9F55-5E913AFC716A}" type="datetime1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121593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320040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4" y="1380744"/>
            <a:ext cx="4572000" cy="4983480"/>
          </a:xfrm>
        </p:spPr>
        <p:txBody>
          <a:bodyPr/>
          <a:lstStyle>
            <a:lvl1pPr marL="0" indent="0">
              <a:buNone/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53002"/>
            <a:ext cx="2031073" cy="365125"/>
          </a:xfrm>
        </p:spPr>
        <p:txBody>
          <a:bodyPr/>
          <a:lstStyle/>
          <a:p>
            <a:fld id="{46C70014-48FC-4647-9615-BBD39F98887D}" type="datetime1">
              <a:rPr lang="en-US" smtClean="0"/>
              <a:t>9/3/2026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0" y="0"/>
            <a:ext cx="6274279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18207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2663" y="583413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584144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212790" y="2212975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212663" y="6453002"/>
            <a:ext cx="922372" cy="365125"/>
          </a:xfrm>
        </p:spPr>
        <p:txBody>
          <a:bodyPr/>
          <a:lstStyle/>
          <a:p>
            <a:fld id="{C089F4EF-3CDF-46D7-ADF4-3A52C84FD8BE}" type="datetime1">
              <a:rPr lang="en-US" smtClean="0"/>
              <a:t>9/3/2026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9135035" y="6453002"/>
            <a:ext cx="2546891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078269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83413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2212975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53002"/>
            <a:ext cx="1067625" cy="365125"/>
          </a:xfrm>
        </p:spPr>
        <p:txBody>
          <a:bodyPr/>
          <a:lstStyle/>
          <a:p>
            <a:fld id="{E635C43F-DBB1-4D83-B442-E1529AA900C2}" type="datetime1">
              <a:rPr lang="en-US" smtClean="0"/>
              <a:t>9/3/2026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0"/>
            <a:ext cx="7430219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04785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60426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153323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3102" y="1078992"/>
            <a:ext cx="3273552" cy="1942773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781365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44096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10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43102" y="6453002"/>
            <a:ext cx="1003659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2D13F81E-C5BD-4314-B9B9-AAE2702F29D2}" type="datetime1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346761" y="6453002"/>
            <a:ext cx="233516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73470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01226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635132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C8C146-0A20-4029-98D5-9A42EEDF8B24}" type="datetime1">
              <a:rPr lang="en-US" smtClean="0"/>
              <a:t>9/3/2026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5012267"/>
            <a:ext cx="6400800" cy="139033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200"/>
            </a:lvl3pPr>
            <a:lvl4pPr marL="685800" indent="0">
              <a:buFont typeface="Arial" panose="020B0604020202020204" pitchFamily="34" charset="0"/>
              <a:buNone/>
              <a:defRPr sz="1100"/>
            </a:lvl4pPr>
            <a:lvl5pPr marL="9144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288879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4162318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C12A2F-57DF-45DA-A7E9-678FD33267B9}" type="datetime1">
              <a:rPr lang="en-US" smtClean="0"/>
              <a:t>9/3/2026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4162318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591928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61425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079730"/>
            <a:ext cx="12192000" cy="377827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59778"/>
            <a:ext cx="3494314" cy="365125"/>
          </a:xfrm>
        </p:spPr>
        <p:txBody>
          <a:bodyPr/>
          <a:lstStyle/>
          <a:p>
            <a:fld id="{9128053F-E531-4885-B604-CF1A6DEEE405}" type="datetime1">
              <a:rPr lang="en-US" smtClean="0"/>
              <a:t>9/3/2026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561425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59778"/>
            <a:ext cx="280540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5977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768102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603504"/>
            <a:ext cx="10972802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12645" y="1828800"/>
            <a:ext cx="6172200" cy="4425696"/>
          </a:xfrm>
          <a:blipFill dpi="0" rotWithShape="1">
            <a:blip r:embed="rId2" cstate="print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327395" y="1828800"/>
            <a:ext cx="4251960" cy="4428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6791B-F730-470C-BD5E-FFF8D449589F}" type="datetime1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976790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39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12648" y="2290890"/>
            <a:ext cx="4672584" cy="4041648"/>
          </a:xfrm>
          <a:blipFill dpi="0" rotWithShape="1">
            <a:blip r:embed="rId2" cstate="print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49275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73FE0C-303A-49D2-B22C-9FE8AE7D9EF1}" type="datetime1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46012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550217"/>
            <a:ext cx="3657603" cy="1453896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521" y="2295144"/>
            <a:ext cx="3490176" cy="4041648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16500" y="549275"/>
            <a:ext cx="6561138" cy="5759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859A7-84EB-4384-87AF-59CC16704CF8}" type="datetime1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380775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ig Numb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9496" y="566928"/>
            <a:ext cx="10826496" cy="4334256"/>
          </a:xfrm>
        </p:spPr>
        <p:txBody>
          <a:bodyPr anchor="b">
            <a:normAutofit/>
          </a:bodyPr>
          <a:lstStyle>
            <a:lvl1pPr algn="l">
              <a:defRPr sz="232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n-US"/>
              <a:t>##%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4944" y="4718304"/>
            <a:ext cx="5897880" cy="1353312"/>
          </a:xfrm>
        </p:spPr>
        <p:txBody>
          <a:bodyPr anchor="t">
            <a:normAutofit/>
          </a:bodyPr>
          <a:lstStyle>
            <a:lvl1pPr marL="0" indent="0" algn="l">
              <a:buNone/>
              <a:defRPr sz="2800" cap="none" baseline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D3D17-73C9-402C-91E7-BA73E6829C50}" type="datetime1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4685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ig Numb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22960" y="603504"/>
            <a:ext cx="10543032" cy="4206240"/>
          </a:xfrm>
        </p:spPr>
        <p:txBody>
          <a:bodyPr anchor="b">
            <a:normAutofit/>
          </a:bodyPr>
          <a:lstStyle>
            <a:lvl1pPr algn="ctr">
              <a:defRPr sz="232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n-US"/>
              <a:t>##%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77440" y="4809744"/>
            <a:ext cx="7525512" cy="1545336"/>
          </a:xfrm>
        </p:spPr>
        <p:txBody>
          <a:bodyPr anchor="t">
            <a:normAutofit/>
          </a:bodyPr>
          <a:lstStyle>
            <a:lvl1pPr marL="0" indent="0" algn="ctr">
              <a:buNone/>
              <a:defRPr sz="2800" cap="none" baseline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7A7CDD-9512-40CC-9351-FC0DE186CFBD}" type="datetime1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17601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ig Number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93814EA-F598-EBFD-83D1-6782D7CBB59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22960" y="603504"/>
            <a:ext cx="10543032" cy="4206240"/>
          </a:xfrm>
        </p:spPr>
        <p:txBody>
          <a:bodyPr anchor="b">
            <a:normAutofit/>
          </a:bodyPr>
          <a:lstStyle>
            <a:lvl1pPr algn="ctr">
              <a:defRPr sz="23200">
                <a:solidFill>
                  <a:schemeClr val="tx1"/>
                </a:solidFill>
              </a:defRPr>
            </a:lvl1pPr>
          </a:lstStyle>
          <a:p>
            <a:r>
              <a:rPr lang="en-US"/>
              <a:t>##%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77440" y="4809744"/>
            <a:ext cx="7525512" cy="1545336"/>
          </a:xfrm>
        </p:spPr>
        <p:txBody>
          <a:bodyPr anchor="t">
            <a:normAutofit/>
          </a:bodyPr>
          <a:lstStyle>
            <a:lvl1pPr marL="0" indent="0" algn="ctr">
              <a:buNone/>
              <a:defRPr sz="2800" cap="none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83EFCC7-B7E8-4ABE-BBCB-C75FD27800CD}" type="datetime1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0964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7735E4-737B-43D4-B991-92C3D63DE68F}" type="datetime1">
              <a:rPr lang="en-US" smtClean="0"/>
              <a:t>9/3/2026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548640"/>
            <a:ext cx="8266176" cy="560527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7831385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Quot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99616" y="1188720"/>
            <a:ext cx="9198864" cy="3657600"/>
          </a:xfrm>
        </p:spPr>
        <p:txBody>
          <a:bodyPr anchor="ctr">
            <a:normAutofit/>
          </a:bodyPr>
          <a:lstStyle>
            <a:lvl1pPr marL="137160" indent="-137160" algn="l">
              <a:lnSpc>
                <a:spcPct val="100000"/>
              </a:lnSpc>
              <a:defRPr sz="4000" b="0"/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654972" y="5428752"/>
            <a:ext cx="9043508" cy="466344"/>
          </a:xfrm>
        </p:spPr>
        <p:txBody>
          <a:bodyPr anchor="ctr">
            <a:normAutofit/>
          </a:bodyPr>
          <a:lstStyle>
            <a:lvl1pPr marL="0" indent="0" algn="l">
              <a:buNone/>
              <a:defRPr sz="22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Quote Author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3035D-22A0-4334-A9AE-2457016C8B47}" type="datetime1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9565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Quote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CE66BBE-3119-84C9-214F-FCCB3DF5A6F1}"/>
              </a:ext>
            </a:extLst>
          </p:cNvPr>
          <p:cNvSpPr/>
          <p:nvPr userDrawn="1"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99616" y="1344168"/>
            <a:ext cx="9198864" cy="3291840"/>
          </a:xfrm>
        </p:spPr>
        <p:txBody>
          <a:bodyPr anchor="ctr">
            <a:normAutofit/>
          </a:bodyPr>
          <a:lstStyle>
            <a:lvl1pPr marL="137160" indent="-137160" algn="l">
              <a:lnSpc>
                <a:spcPct val="100000"/>
              </a:lnSpc>
              <a:defRPr sz="4000" b="0"/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655064" y="5349240"/>
            <a:ext cx="9043416" cy="466344"/>
          </a:xfrm>
        </p:spPr>
        <p:txBody>
          <a:bodyPr anchor="ctr">
            <a:normAutofit/>
          </a:bodyPr>
          <a:lstStyle>
            <a:lvl1pPr marL="0" indent="0" algn="l">
              <a:buNone/>
              <a:defRPr sz="2200" b="1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Quote Author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247CA6-BC1D-429A-A289-4E939E49554A}" type="datetime1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932447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12648" y="1234440"/>
            <a:ext cx="8961120" cy="3169920"/>
          </a:xfrm>
        </p:spPr>
        <p:txBody>
          <a:bodyPr anchor="ctr">
            <a:normAutofit/>
          </a:bodyPr>
          <a:lstStyle>
            <a:lvl1pPr marL="137160" indent="-137160" algn="l">
              <a:lnSpc>
                <a:spcPct val="100000"/>
              </a:lnSpc>
              <a:defRPr sz="4400" b="0"/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66651" y="5669280"/>
            <a:ext cx="8807117" cy="466344"/>
          </a:xfrm>
        </p:spPr>
        <p:txBody>
          <a:bodyPr anchor="ctr">
            <a:normAutofit/>
          </a:bodyPr>
          <a:lstStyle>
            <a:lvl1pPr marL="0" indent="0" algn="l">
              <a:buNone/>
              <a:defRPr sz="22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Quote Author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418BD-2BA9-41CB-AB89-625779A7563D}" type="datetime1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6029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2775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65B10-D26A-480A-9509-A9831C5E60D8}" type="datetime1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08349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9600" y="2387600"/>
            <a:ext cx="51577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200" y="2387600"/>
            <a:ext cx="51831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CB42A-67CE-499B-A4FA-7D4E4469B142}" type="datetime1">
              <a:rPr lang="en-US" smtClean="0"/>
              <a:t>9/3/2026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25818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9E5040-F7E0-40EC-B8E9-CED28200FAA3}" type="datetime1">
              <a:rPr lang="en-US" smtClean="0"/>
              <a:t>9/3/2026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969136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CFF128-BAC7-4E0D-8F77-28A571D93B6F}" type="datetime1">
              <a:rPr lang="en-US" smtClean="0"/>
              <a:t>9/3/2026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17458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311121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5"/>
            <a:ext cx="6440258" cy="5755109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DB3EA1-DD0C-4B8D-8364-52024B4530F1}" type="datetime1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59907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557784"/>
            <a:ext cx="6519080" cy="5779007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157344-9CC7-412D-8C20-072BE86D5A11}" type="datetime1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021619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6" y="1847088"/>
            <a:ext cx="7342307" cy="1133856"/>
          </a:xfrm>
        </p:spPr>
        <p:txBody>
          <a:bodyPr anchor="b">
            <a:no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775" y="3594099"/>
            <a:ext cx="10890374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987AA-E4E6-4FC1-BAD8-09A952212C58}" type="datetime1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6628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627318"/>
            <a:ext cx="8430767" cy="1842020"/>
          </a:xfrm>
        </p:spPr>
        <p:txBody>
          <a:bodyPr anchor="b">
            <a:no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3622674"/>
            <a:ext cx="8430639" cy="1279615"/>
          </a:xfrm>
        </p:spPr>
        <p:txBody>
          <a:bodyPr>
            <a:noAutofit/>
          </a:bodyPr>
          <a:lstStyle>
            <a:lvl1pPr marL="0" indent="0">
              <a:buNone/>
              <a:defRPr sz="2400"/>
            </a:lvl1pPr>
            <a:lvl2pPr marL="228600" indent="0">
              <a:buNone/>
              <a:defRPr sz="2000"/>
            </a:lvl2pPr>
            <a:lvl3pPr marL="457200" indent="0">
              <a:buNone/>
              <a:defRPr sz="1800"/>
            </a:lvl3pPr>
            <a:lvl4pPr marL="685800" indent="0">
              <a:buNone/>
              <a:defRPr sz="16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3CF65F-0E21-48DE-8D75-4BF66A547E8E}" type="datetime1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85318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D291CE83-67BA-4B15-B48A-7DC5C0636664}" type="datetime1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0288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5" r:id="rId2"/>
    <p:sldLayoutId id="2147483661" r:id="rId3"/>
    <p:sldLayoutId id="2147483712" r:id="rId4"/>
    <p:sldLayoutId id="2147483698" r:id="rId5"/>
    <p:sldLayoutId id="2147483728" r:id="rId6"/>
    <p:sldLayoutId id="2147483735" r:id="rId7"/>
    <p:sldLayoutId id="2147483758" r:id="rId8"/>
    <p:sldLayoutId id="2147483710" r:id="rId9"/>
    <p:sldLayoutId id="2147483755" r:id="rId10"/>
    <p:sldLayoutId id="2147483713" r:id="rId11"/>
    <p:sldLayoutId id="2147483729" r:id="rId12"/>
    <p:sldLayoutId id="2147483662" r:id="rId13"/>
    <p:sldLayoutId id="2147483679" r:id="rId14"/>
    <p:sldLayoutId id="2147483680" r:id="rId15"/>
    <p:sldLayoutId id="2147483681" r:id="rId16"/>
    <p:sldLayoutId id="2147483682" r:id="rId17"/>
    <p:sldLayoutId id="2147483706" r:id="rId18"/>
    <p:sldLayoutId id="2147483689" r:id="rId19"/>
    <p:sldLayoutId id="2147483690" r:id="rId20"/>
    <p:sldLayoutId id="2147483707" r:id="rId21"/>
    <p:sldLayoutId id="2147483708" r:id="rId22"/>
    <p:sldLayoutId id="2147483692" r:id="rId23"/>
    <p:sldLayoutId id="2147483691" r:id="rId24"/>
    <p:sldLayoutId id="2147483732" r:id="rId25"/>
    <p:sldLayoutId id="2147483733" r:id="rId26"/>
    <p:sldLayoutId id="2147483731" r:id="rId27"/>
    <p:sldLayoutId id="2147483730" r:id="rId28"/>
    <p:sldLayoutId id="2147483694" r:id="rId29"/>
    <p:sldLayoutId id="2147483726" r:id="rId30"/>
    <p:sldLayoutId id="2147483693" r:id="rId31"/>
    <p:sldLayoutId id="2147483711" r:id="rId32"/>
    <p:sldLayoutId id="2147483672" r:id="rId33"/>
    <p:sldLayoutId id="2147483673" r:id="rId34"/>
    <p:sldLayoutId id="2147483696" r:id="rId35"/>
    <p:sldLayoutId id="2147483752" r:id="rId36"/>
    <p:sldLayoutId id="2147483754" r:id="rId37"/>
    <p:sldLayoutId id="2147483753" r:id="rId38"/>
    <p:sldLayoutId id="2147483750" r:id="rId39"/>
    <p:sldLayoutId id="2147483742" r:id="rId40"/>
    <p:sldLayoutId id="2147483743" r:id="rId41"/>
    <p:sldLayoutId id="2147483740" r:id="rId42"/>
    <p:sldLayoutId id="2147483664" r:id="rId43"/>
    <p:sldLayoutId id="2147483665" r:id="rId44"/>
    <p:sldLayoutId id="2147483666" r:id="rId45"/>
    <p:sldLayoutId id="2147483667" r:id="rId46"/>
    <p:sldLayoutId id="2147483668" r:id="rId47"/>
    <p:sldLayoutId id="2147483669" r:id="rId48"/>
    <p:sldLayoutId id="2147483685" r:id="rId49"/>
    <p:sldLayoutId id="2147483687" r:id="rId50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1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jerrykorulla/design-patterns-examples" TargetMode="Externa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6D321A2-65AC-4C18-CA75-0FB5084CA3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411480"/>
            <a:ext cx="4654296" cy="3739896"/>
          </a:xfrm>
        </p:spPr>
        <p:txBody>
          <a:bodyPr/>
          <a:lstStyle/>
          <a:p>
            <a:r>
              <a:rPr lang="en-US"/>
              <a:t>Design Patterns in C++</a:t>
            </a:r>
          </a:p>
        </p:txBody>
      </p:sp>
      <p:pic>
        <p:nvPicPr>
          <p:cNvPr id="7" name="Picture Placeholder 6" descr="A group of houses with red roofs">
            <a:extLst>
              <a:ext uri="{FF2B5EF4-FFF2-40B4-BE49-F238E27FC236}">
                <a16:creationId xmlns:a16="http://schemas.microsoft.com/office/drawing/2014/main" id="{AA6BCCFE-82B9-38D9-8EAD-75148B80BD8F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596128" y="0"/>
            <a:ext cx="6595872" cy="6858000"/>
          </a:xfrm>
        </p:spPr>
      </p:pic>
    </p:spTree>
    <p:extLst>
      <p:ext uri="{BB962C8B-B14F-4D97-AF65-F5344CB8AC3E}">
        <p14:creationId xmlns:p14="http://schemas.microsoft.com/office/powerpoint/2010/main" val="30699655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ECCB1-8389-6DAE-936D-64A77F36E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000"/>
              <a:t>What are Design Patterns?</a:t>
            </a:r>
          </a:p>
          <a:p>
            <a:br>
              <a:rPr lang="en-US"/>
            </a:b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D4BCE7-A2FE-4B88-22E3-AF2B355DC3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715532"/>
            <a:ext cx="6024069" cy="459382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800">
                <a:ea typeface="+mn-lt"/>
                <a:cs typeface="+mn-lt"/>
              </a:rPr>
              <a:t>They are</a:t>
            </a:r>
          </a:p>
          <a:p>
            <a:pPr marL="228600" lvl="1" indent="0">
              <a:buNone/>
            </a:pPr>
            <a:r>
              <a:rPr lang="en-US" sz="2600">
                <a:ea typeface="+mn-lt"/>
                <a:cs typeface="+mn-lt"/>
              </a:rPr>
              <a:t>✅ </a:t>
            </a:r>
            <a:r>
              <a:rPr lang="en-US" sz="2600"/>
              <a:t>Reusable solution </a:t>
            </a:r>
          </a:p>
          <a:p>
            <a:pPr marL="228600" lvl="1" indent="0">
              <a:buNone/>
            </a:pPr>
            <a:r>
              <a:rPr lang="en-US" sz="2600">
                <a:ea typeface="+mn-lt"/>
                <a:cs typeface="+mn-lt"/>
              </a:rPr>
              <a:t>✅ </a:t>
            </a:r>
            <a:r>
              <a:rPr lang="en-US" sz="2600"/>
              <a:t>Shared vocabulary</a:t>
            </a:r>
          </a:p>
          <a:p>
            <a:r>
              <a:rPr lang="en-US" sz="2800"/>
              <a:t>Not:</a:t>
            </a:r>
          </a:p>
          <a:p>
            <a:pPr marL="228600" lvl="1" indent="0">
              <a:buNone/>
            </a:pPr>
            <a:r>
              <a:rPr lang="en-US" sz="2400">
                <a:ea typeface="+mn-lt"/>
                <a:cs typeface="+mn-lt"/>
              </a:rPr>
              <a:t>❌ </a:t>
            </a:r>
            <a:r>
              <a:rPr lang="en-US" sz="2400"/>
              <a:t>A library or framework</a:t>
            </a:r>
          </a:p>
          <a:p>
            <a:pPr marL="228600" lvl="1" indent="0">
              <a:buNone/>
            </a:pPr>
            <a:r>
              <a:rPr lang="en-US" sz="2400">
                <a:ea typeface="+mn-lt"/>
                <a:cs typeface="+mn-lt"/>
              </a:rPr>
              <a:t>❌ </a:t>
            </a:r>
            <a:r>
              <a:rPr lang="en-US" sz="2400"/>
              <a:t>A silver bullet (solution to all problems)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C0BD6B-05D6-9C71-E246-1E391B3AF3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8054" y="1689339"/>
            <a:ext cx="3191773" cy="214222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CA8F20F-A552-61A2-6850-EE24D85B25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6188" y="4004094"/>
            <a:ext cx="3191775" cy="230037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1814680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E4BEBE-2604-0B32-B054-5377E7194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IN"/>
              <a:t>Design Patterns — The “Gang of Four”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1E62E9-6F76-D2A9-EC71-E48682A08A1B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>
            <a:normAutofit/>
          </a:bodyPr>
          <a:lstStyle/>
          <a:p>
            <a:pPr lvl="0"/>
            <a:r>
              <a:rPr lang="en-US" sz="1400"/>
              <a:t>Published in 1994 </a:t>
            </a:r>
          </a:p>
          <a:p>
            <a:pPr lvl="0"/>
            <a:r>
              <a:rPr lang="en-US" sz="1400"/>
              <a:t>Introduced 23 classic, reusable object-oriented design patterns</a:t>
            </a:r>
          </a:p>
          <a:p>
            <a:pPr lvl="0"/>
            <a:r>
              <a:rPr lang="en-US" sz="1400"/>
              <a:t>Organized into Creational, Structural, and Behavioral categories. </a:t>
            </a:r>
          </a:p>
          <a:p>
            <a:pPr lvl="0"/>
            <a:r>
              <a:rPr lang="en-US" sz="1400"/>
              <a:t>Proven solutions to recurring software design problems.</a:t>
            </a:r>
          </a:p>
          <a:p>
            <a:pPr marL="0" lvl="0" indent="0">
              <a:buNone/>
            </a:pPr>
            <a:endParaRPr lang="en-IN" sz="1400"/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52358D58-1AEB-C482-6365-11B8F4EB2817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26" r="3426"/>
          <a:stretch>
            <a:fillRect/>
          </a:stretch>
        </p:blipFill>
        <p:spPr>
          <a:xfrm>
            <a:off x="7538935" y="293965"/>
            <a:ext cx="4380689" cy="6270070"/>
          </a:xfrm>
          <a:prstGeom prst="rect">
            <a:avLst/>
          </a:prstGeom>
          <a:blipFill dpi="0" rotWithShape="1">
            <a:blip r:embed="rId4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6943583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2FA20E31-C501-7DC5-A068-D5E81FF5E1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8896" y="1129554"/>
            <a:ext cx="4361688" cy="3475236"/>
          </a:xfrm>
        </p:spPr>
        <p:txBody>
          <a:bodyPr anchor="ctr"/>
          <a:lstStyle/>
          <a:p>
            <a:r>
              <a:rPr lang="en-US"/>
              <a:t>Creational Design Patterns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32221AE5-4E48-8018-581A-7C17FD5B90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68897" y="4731335"/>
            <a:ext cx="4206240" cy="1184585"/>
          </a:xfrm>
        </p:spPr>
        <p:txBody>
          <a:bodyPr/>
          <a:lstStyle/>
          <a:p>
            <a:r>
              <a:rPr lang="en-US"/>
              <a:t>Code Examples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8C14E53-E310-4034-8196-71FD7C90C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0942" b="-1"/>
          <a:stretch>
            <a:fillRect/>
          </a:stretch>
        </p:blipFill>
        <p:spPr>
          <a:xfrm>
            <a:off x="20" y="10"/>
            <a:ext cx="6584930" cy="685799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7842812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648E8A-3094-7C18-FDC3-C8C654EEF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Creational Design Patterns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002C4E-EDA6-884A-9BD7-CEB7695831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/>
              <a:t>Purpose:</a:t>
            </a:r>
            <a:r>
              <a:rPr lang="en-IN"/>
              <a:t> Provide flexible and reusable ways to </a:t>
            </a:r>
            <a:r>
              <a:rPr lang="en-IN" b="1"/>
              <a:t>create objects</a:t>
            </a:r>
            <a:r>
              <a:rPr lang="en-IN"/>
              <a:t>, while hiding or decoupling the object-creation logic from the code that uses them.</a:t>
            </a:r>
          </a:p>
          <a:p>
            <a:r>
              <a:rPr lang="en-IN" b="1"/>
              <a:t>The 5 </a:t>
            </a:r>
            <a:r>
              <a:rPr lang="en-IN" b="1" err="1"/>
              <a:t>GoF</a:t>
            </a:r>
            <a:r>
              <a:rPr lang="en-IN" b="1"/>
              <a:t> Creational Patterns</a:t>
            </a:r>
          </a:p>
          <a:p>
            <a:pPr marL="571500" lvl="1" indent="-342900">
              <a:buFont typeface="+mj-lt"/>
              <a:buAutoNum type="arabicPeriod"/>
            </a:pPr>
            <a:r>
              <a:rPr lang="en-IN" b="1"/>
              <a:t>Singleton</a:t>
            </a:r>
            <a:r>
              <a:rPr lang="en-IN"/>
              <a:t> — Ensures a class has only one instance and provides a global access point.</a:t>
            </a:r>
          </a:p>
          <a:p>
            <a:pPr marL="571500" lvl="1" indent="-342900">
              <a:buFont typeface="+mj-lt"/>
              <a:buAutoNum type="arabicPeriod"/>
            </a:pPr>
            <a:r>
              <a:rPr lang="en-IN" b="1"/>
              <a:t>Factory Method</a:t>
            </a:r>
            <a:r>
              <a:rPr lang="en-IN"/>
              <a:t> — Defines an interface for creating objects while allowing subclasses to decide what to instantiate. </a:t>
            </a:r>
          </a:p>
          <a:p>
            <a:pPr marL="571500" lvl="1" indent="-342900">
              <a:buFont typeface="+mj-lt"/>
              <a:buAutoNum type="arabicPeriod"/>
            </a:pPr>
            <a:r>
              <a:rPr lang="en-IN" b="1"/>
              <a:t>Abstract Factory</a:t>
            </a:r>
            <a:r>
              <a:rPr lang="en-IN"/>
              <a:t> — Creates families of related objects without specifying their concrete classes.</a:t>
            </a:r>
          </a:p>
          <a:p>
            <a:pPr marL="571500" lvl="1" indent="-342900">
              <a:buFont typeface="+mj-lt"/>
              <a:buAutoNum type="arabicPeriod"/>
            </a:pPr>
            <a:r>
              <a:rPr lang="en-IN" b="1"/>
              <a:t>Builder</a:t>
            </a:r>
            <a:r>
              <a:rPr lang="en-IN"/>
              <a:t> — Constructs complex objects step-by-step, allowing different representations of the same object. </a:t>
            </a:r>
          </a:p>
          <a:p>
            <a:pPr marL="571500" lvl="1" indent="-342900">
              <a:buFont typeface="+mj-lt"/>
              <a:buAutoNum type="arabicPeriod"/>
            </a:pPr>
            <a:r>
              <a:rPr lang="en-IN" b="1"/>
              <a:t>Prototype</a:t>
            </a:r>
            <a:r>
              <a:rPr lang="en-IN"/>
              <a:t> — Creates new objects by cloning existing objects, useful when object creation is expensive.</a:t>
            </a:r>
          </a:p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363555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3AF58-42F8-BCB2-AEFF-20FEF263E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C6582BA-EA4A-38D3-7780-55FBE3ED22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8896" y="1129554"/>
            <a:ext cx="4361688" cy="3475236"/>
          </a:xfrm>
        </p:spPr>
        <p:txBody>
          <a:bodyPr anchor="ctr"/>
          <a:lstStyle/>
          <a:p>
            <a:r>
              <a:rPr lang="en-US"/>
              <a:t>Structural Design Patterns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A0406C00-B4C2-4A84-F261-44D788EE37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68897" y="4731335"/>
            <a:ext cx="4206240" cy="1184585"/>
          </a:xfrm>
        </p:spPr>
        <p:txBody>
          <a:bodyPr/>
          <a:lstStyle/>
          <a:p>
            <a:r>
              <a:rPr lang="en-US"/>
              <a:t>Code Examples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B12C8D-9BE6-8446-8130-D7B3110576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1" r="1991"/>
          <a:stretch/>
        </p:blipFill>
        <p:spPr>
          <a:xfrm>
            <a:off x="302170" y="10"/>
            <a:ext cx="6584930" cy="685799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1224257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988B12-4181-3D65-B040-9663126CA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Structural Design Patterns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897A4D-89B0-0A49-B7A2-367600DFB4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/>
              <a:t>Purpose:</a:t>
            </a:r>
            <a:r>
              <a:rPr lang="en-IN"/>
              <a:t> Define how classes and objects are </a:t>
            </a:r>
            <a:r>
              <a:rPr lang="en-IN" b="1"/>
              <a:t>composed and connected</a:t>
            </a:r>
            <a:r>
              <a:rPr lang="en-IN"/>
              <a:t> to form larger, flexible structures.</a:t>
            </a:r>
          </a:p>
          <a:p>
            <a:r>
              <a:rPr lang="en-IN" b="1"/>
              <a:t>The 7 </a:t>
            </a:r>
            <a:r>
              <a:rPr lang="en-IN" b="1" err="1"/>
              <a:t>GoF</a:t>
            </a:r>
            <a:r>
              <a:rPr lang="en-IN" b="1"/>
              <a:t> Structural Patterns</a:t>
            </a:r>
          </a:p>
          <a:p>
            <a:pPr marL="571500" lvl="1" indent="-342900">
              <a:buFont typeface="+mj-lt"/>
              <a:buAutoNum type="arabicPeriod"/>
            </a:pPr>
            <a:r>
              <a:rPr lang="en-IN" b="1"/>
              <a:t>Adapter</a:t>
            </a:r>
            <a:r>
              <a:rPr lang="en-IN"/>
              <a:t> — Makes incompatible interfaces work together. </a:t>
            </a:r>
          </a:p>
          <a:p>
            <a:pPr marL="571500" lvl="1" indent="-342900">
              <a:buFont typeface="+mj-lt"/>
              <a:buAutoNum type="arabicPeriod"/>
            </a:pPr>
            <a:r>
              <a:rPr lang="en-IN" b="1"/>
              <a:t>Bridge</a:t>
            </a:r>
            <a:r>
              <a:rPr lang="en-IN"/>
              <a:t> — Separates abstraction from implementation so both can evolve independently. </a:t>
            </a:r>
          </a:p>
          <a:p>
            <a:pPr marL="571500" lvl="1" indent="-342900">
              <a:buFont typeface="+mj-lt"/>
              <a:buAutoNum type="arabicPeriod"/>
            </a:pPr>
            <a:r>
              <a:rPr lang="en-IN" b="1"/>
              <a:t>Composite</a:t>
            </a:r>
            <a:r>
              <a:rPr lang="en-IN"/>
              <a:t> — Treats individual objects and compositions of objects uniformly. </a:t>
            </a:r>
          </a:p>
          <a:p>
            <a:pPr marL="571500" lvl="1" indent="-342900">
              <a:buFont typeface="+mj-lt"/>
              <a:buAutoNum type="arabicPeriod"/>
            </a:pPr>
            <a:r>
              <a:rPr lang="en-IN" b="1"/>
              <a:t>Decorator</a:t>
            </a:r>
            <a:r>
              <a:rPr lang="en-IN"/>
              <a:t> — Adds responsibilities or behaviour to objects dynamically. </a:t>
            </a:r>
          </a:p>
          <a:p>
            <a:pPr marL="571500" lvl="1" indent="-342900">
              <a:buFont typeface="+mj-lt"/>
              <a:buAutoNum type="arabicPeriod"/>
            </a:pPr>
            <a:r>
              <a:rPr lang="en-IN" b="1"/>
              <a:t>Facade</a:t>
            </a:r>
            <a:r>
              <a:rPr lang="en-IN"/>
              <a:t> — Provides a simple interface to a complex subsystem. </a:t>
            </a:r>
          </a:p>
          <a:p>
            <a:pPr marL="571500" lvl="1" indent="-342900">
              <a:buFont typeface="+mj-lt"/>
              <a:buAutoNum type="arabicPeriod"/>
            </a:pPr>
            <a:r>
              <a:rPr lang="en-IN" b="1"/>
              <a:t>Flyweight</a:t>
            </a:r>
            <a:r>
              <a:rPr lang="en-IN"/>
              <a:t> — Shares common data across many objects to reduce memory usage. </a:t>
            </a:r>
          </a:p>
          <a:p>
            <a:pPr marL="571500" lvl="1" indent="-342900">
              <a:buFont typeface="+mj-lt"/>
              <a:buAutoNum type="arabicPeriod"/>
            </a:pPr>
            <a:r>
              <a:rPr lang="en-IN" b="1"/>
              <a:t>Proxy</a:t>
            </a:r>
            <a:r>
              <a:rPr lang="en-IN"/>
              <a:t> — Provides a substitute or placeholder that controls access to another object.</a:t>
            </a:r>
          </a:p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15694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86DDE-F88D-D0D3-2557-EC5E97CE0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6165616A-069F-490E-3CC1-ED1F4AF527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8896" y="1129554"/>
            <a:ext cx="4361688" cy="3475236"/>
          </a:xfrm>
        </p:spPr>
        <p:txBody>
          <a:bodyPr anchor="ctr"/>
          <a:lstStyle/>
          <a:p>
            <a:r>
              <a:rPr lang="en-US"/>
              <a:t>Behavioral Design Patterns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2C4BC7BE-FC76-1BF9-1CEC-E83F09133E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68897" y="4731335"/>
            <a:ext cx="4206240" cy="1184585"/>
          </a:xfrm>
        </p:spPr>
        <p:txBody>
          <a:bodyPr/>
          <a:lstStyle/>
          <a:p>
            <a:r>
              <a:rPr lang="en-US"/>
              <a:t>Code Examples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5A77AB7-1030-9CB8-0152-11ED0E85D0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07" b="3107"/>
          <a:stretch/>
        </p:blipFill>
        <p:spPr>
          <a:xfrm>
            <a:off x="0" y="0"/>
            <a:ext cx="6584930" cy="685799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40277011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28C608-C901-793A-441C-47F4C62B15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err="1"/>
              <a:t>Behavioral</a:t>
            </a:r>
            <a:r>
              <a:rPr lang="en-IN"/>
              <a:t> Design Patterns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69CDC4-FFCC-D2D8-C82F-43A4F11449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IN" b="1"/>
              <a:t>Purpose:</a:t>
            </a:r>
            <a:r>
              <a:rPr lang="en-IN"/>
              <a:t> Define how objects </a:t>
            </a:r>
            <a:r>
              <a:rPr lang="en-IN" b="1"/>
              <a:t>communicate, collaborate, and distribute responsibilities</a:t>
            </a:r>
            <a:r>
              <a:rPr lang="en-IN"/>
              <a:t>.</a:t>
            </a:r>
          </a:p>
          <a:p>
            <a:r>
              <a:rPr lang="en-IN" b="1"/>
              <a:t>The 11 </a:t>
            </a:r>
            <a:r>
              <a:rPr lang="en-IN" b="1" err="1"/>
              <a:t>GoF</a:t>
            </a:r>
            <a:r>
              <a:rPr lang="en-IN" b="1"/>
              <a:t> </a:t>
            </a:r>
            <a:r>
              <a:rPr lang="en-IN" b="1" err="1"/>
              <a:t>Behavioral</a:t>
            </a:r>
            <a:r>
              <a:rPr lang="en-IN" b="1"/>
              <a:t> Patterns</a:t>
            </a:r>
          </a:p>
          <a:p>
            <a:pPr marL="571500" lvl="1" indent="-342900">
              <a:buFont typeface="+mj-lt"/>
              <a:buAutoNum type="arabicPeriod"/>
            </a:pPr>
            <a:r>
              <a:rPr lang="en-IN" b="1"/>
              <a:t>Chain of Responsibility</a:t>
            </a:r>
            <a:r>
              <a:rPr lang="en-IN"/>
              <a:t> — Passes a request through a chain of potential handlers. </a:t>
            </a:r>
          </a:p>
          <a:p>
            <a:pPr marL="571500" lvl="1" indent="-342900">
              <a:buFont typeface="+mj-lt"/>
              <a:buAutoNum type="arabicPeriod"/>
            </a:pPr>
            <a:r>
              <a:rPr lang="en-IN" b="1"/>
              <a:t>Command</a:t>
            </a:r>
            <a:r>
              <a:rPr lang="en-IN"/>
              <a:t> — Encapsulates a request as an object, enabling operations such as undo/redo. </a:t>
            </a:r>
          </a:p>
          <a:p>
            <a:pPr marL="571500" lvl="1" indent="-342900">
              <a:buFont typeface="+mj-lt"/>
              <a:buAutoNum type="arabicPeriod"/>
            </a:pPr>
            <a:r>
              <a:rPr lang="en-IN" b="1"/>
              <a:t>Interpreter</a:t>
            </a:r>
            <a:r>
              <a:rPr lang="en-IN"/>
              <a:t> — Defines a representation for a language and provides an interpreter. </a:t>
            </a:r>
          </a:p>
          <a:p>
            <a:pPr marL="571500" lvl="1" indent="-342900">
              <a:buFont typeface="+mj-lt"/>
              <a:buAutoNum type="arabicPeriod"/>
            </a:pPr>
            <a:r>
              <a:rPr lang="en-IN" b="1"/>
              <a:t>Iterator</a:t>
            </a:r>
            <a:r>
              <a:rPr lang="en-IN"/>
              <a:t> — Provides a way to traverse a collection without exposing its internal structure. </a:t>
            </a:r>
          </a:p>
          <a:p>
            <a:pPr marL="571500" lvl="1" indent="-342900">
              <a:buFont typeface="+mj-lt"/>
              <a:buAutoNum type="arabicPeriod"/>
            </a:pPr>
            <a:r>
              <a:rPr lang="en-IN" b="1"/>
              <a:t>Mediator</a:t>
            </a:r>
            <a:r>
              <a:rPr lang="en-IN"/>
              <a:t> — Centralizes communication between objects to reduce direct dependencies. </a:t>
            </a:r>
          </a:p>
          <a:p>
            <a:pPr marL="571500" lvl="1" indent="-342900">
              <a:buFont typeface="+mj-lt"/>
              <a:buAutoNum type="arabicPeriod"/>
            </a:pPr>
            <a:r>
              <a:rPr lang="en-IN" b="1"/>
              <a:t>Memento</a:t>
            </a:r>
            <a:r>
              <a:rPr lang="en-IN"/>
              <a:t> — Captures and restores an object's previous state. </a:t>
            </a:r>
          </a:p>
          <a:p>
            <a:pPr marL="571500" lvl="1" indent="-342900">
              <a:buFont typeface="+mj-lt"/>
              <a:buAutoNum type="arabicPeriod"/>
            </a:pPr>
            <a:r>
              <a:rPr lang="en-IN" b="1"/>
              <a:t>Observer</a:t>
            </a:r>
            <a:r>
              <a:rPr lang="en-IN"/>
              <a:t> — Notifies dependent objects when an object's state changes. </a:t>
            </a:r>
          </a:p>
          <a:p>
            <a:pPr marL="571500" lvl="1" indent="-342900">
              <a:buFont typeface="+mj-lt"/>
              <a:buAutoNum type="arabicPeriod"/>
            </a:pPr>
            <a:r>
              <a:rPr lang="en-IN" b="1"/>
              <a:t>State</a:t>
            </a:r>
            <a:r>
              <a:rPr lang="en-IN"/>
              <a:t> — Allows an object to change its </a:t>
            </a:r>
            <a:r>
              <a:rPr lang="en-IN" err="1"/>
              <a:t>behavior</a:t>
            </a:r>
            <a:r>
              <a:rPr lang="en-IN"/>
              <a:t> when its internal state changes. </a:t>
            </a:r>
          </a:p>
          <a:p>
            <a:pPr marL="571500" lvl="1" indent="-342900">
              <a:buFont typeface="+mj-lt"/>
              <a:buAutoNum type="arabicPeriod"/>
            </a:pPr>
            <a:r>
              <a:rPr lang="en-IN" b="1"/>
              <a:t>Strategy</a:t>
            </a:r>
            <a:r>
              <a:rPr lang="en-IN"/>
              <a:t> — Encapsulates interchangeable algorithms or </a:t>
            </a:r>
            <a:r>
              <a:rPr lang="en-IN" err="1"/>
              <a:t>behaviors</a:t>
            </a:r>
            <a:r>
              <a:rPr lang="en-IN"/>
              <a:t>. </a:t>
            </a:r>
          </a:p>
          <a:p>
            <a:pPr marL="571500" lvl="1" indent="-342900">
              <a:buFont typeface="+mj-lt"/>
              <a:buAutoNum type="arabicPeriod"/>
            </a:pPr>
            <a:r>
              <a:rPr lang="en-IN" b="1"/>
              <a:t>Template Method</a:t>
            </a:r>
            <a:r>
              <a:rPr lang="en-IN"/>
              <a:t> — Defines the skeleton of an algorithm while allowing subclasses to customize steps. </a:t>
            </a:r>
          </a:p>
          <a:p>
            <a:pPr marL="571500" lvl="1" indent="-342900">
              <a:buFont typeface="+mj-lt"/>
              <a:buAutoNum type="arabicPeriod"/>
            </a:pPr>
            <a:r>
              <a:rPr lang="en-IN" b="1"/>
              <a:t>Visitor</a:t>
            </a:r>
            <a:r>
              <a:rPr lang="en-IN"/>
              <a:t> — Adds operations to object structures without modifying the objects themselves.</a:t>
            </a:r>
          </a:p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513257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2B5E428-03BE-794E-2E2B-F19110A04D03}"/>
              </a:ext>
            </a:extLst>
          </p:cNvPr>
          <p:cNvSpPr/>
          <p:nvPr/>
        </p:nvSpPr>
        <p:spPr>
          <a:xfrm>
            <a:off x="1858307" y="2967335"/>
            <a:ext cx="847539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Questions &amp; Discussions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C4FB03-7F60-1EC3-E21D-2970356C2A50}"/>
              </a:ext>
            </a:extLst>
          </p:cNvPr>
          <p:cNvSpPr txBox="1"/>
          <p:nvPr/>
        </p:nvSpPr>
        <p:spPr>
          <a:xfrm>
            <a:off x="2897848" y="4921858"/>
            <a:ext cx="63963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>
                <a:hlinkClick r:id="rId2"/>
              </a:rPr>
              <a:t>https://github.com/jerrykorulla/design-patterns-examples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2412916"/>
      </p:ext>
    </p:extLst>
  </p:cSld>
  <p:clrMapOvr>
    <a:masterClrMapping/>
  </p:clrMapOvr>
</p:sld>
</file>

<file path=ppt/theme/theme1.xml><?xml version="1.0" encoding="utf-8"?>
<a:theme xmlns:a="http://schemas.openxmlformats.org/drawingml/2006/main" name="Helena">
  <a:themeElements>
    <a:clrScheme name="Helen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elena_win32_DN_V3" id="{9F427321-9060-43C1-8B15-4D38A9FA231C}" vid="{F91C65FD-DCCD-4832-9662-5F5E1061559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DCCFDD150DD1E40AA3556600504D854" ma:contentTypeVersion="8" ma:contentTypeDescription="Create a new document." ma:contentTypeScope="" ma:versionID="6a49a2d3be3438259a80a0c3a3233358">
  <xsd:schema xmlns:xsd="http://www.w3.org/2001/XMLSchema" xmlns:xs="http://www.w3.org/2001/XMLSchema" xmlns:p="http://schemas.microsoft.com/office/2006/metadata/properties" xmlns:ns3="673597c9-b0fd-455c-97d8-30198b8597f9" targetNamespace="http://schemas.microsoft.com/office/2006/metadata/properties" ma:root="true" ma:fieldsID="2f36f107a64b3573030eb9ac7e6734bd" ns3:_="">
    <xsd:import namespace="673597c9-b0fd-455c-97d8-30198b8597f9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73597c9-b0fd-455c-97d8-30198b8597f9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815C017-F059-461C-B5CA-F74FA829193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E93AD65-0173-46E2-8DAB-01A77A9CC463}">
  <ds:schemaRefs>
    <ds:schemaRef ds:uri="673597c9-b0fd-455c-97d8-30198b8597f9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3EA2E174-8201-44C8-8E86-D532E6482AAF}">
  <ds:schemaRefs>
    <ds:schemaRef ds:uri="673597c9-b0fd-455c-97d8-30198b8597f9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{D3A76028-0187-4221-9F68-0FF77734BEDA}9db5ba7a-f6a8-423e-8130-f3099013613b-TF6f351658-02aa-4255-a406-604a46294ca9_win32</Template>
  <Application>Microsoft Office PowerPoint</Application>
  <PresentationFormat>Widescreen</PresentationFormat>
  <Slides>10</Slides>
  <Notes>5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Helena</vt:lpstr>
      <vt:lpstr>Design Patterns in C++</vt:lpstr>
      <vt:lpstr>What are Design Patterns?  </vt:lpstr>
      <vt:lpstr>Design Patterns — The “Gang of Four”</vt:lpstr>
      <vt:lpstr>Creational Design Patterns</vt:lpstr>
      <vt:lpstr>Creational Design Patterns</vt:lpstr>
      <vt:lpstr>Structural Design Patterns</vt:lpstr>
      <vt:lpstr>Structural Design Patterns</vt:lpstr>
      <vt:lpstr>Behavioral Design Patterns</vt:lpstr>
      <vt:lpstr>Behavioral Design Patterns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Jerry George</dc:creator>
  <cp:revision>4</cp:revision>
  <dcterms:created xsi:type="dcterms:W3CDTF">2026-09-03T07:06:01Z</dcterms:created>
  <dcterms:modified xsi:type="dcterms:W3CDTF">2026-09-03T20:57:07Z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0x0101008DCCFDD150DD1E40AA3556600504D854</vt:lpwstr>
  </property>
</Properties>
</file>