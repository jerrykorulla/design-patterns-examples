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1515" r:id="rId6"/>
    <p:sldId id="1519" r:id="rId7"/>
    <p:sldId id="1516" r:id="rId8"/>
    <p:sldId id="1520" r:id="rId9"/>
    <p:sldId id="1517" r:id="rId10"/>
    <p:sldId id="1521" r:id="rId11"/>
    <p:sldId id="1518" r:id="rId12"/>
    <p:sldId id="15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1DC7E-F0CA-44C1-AE7F-CF9918F8DFA4}" v="12" dt="2026-09-03T10:15:41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rrykorulla/design-patterns-examples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/>
          <a:lstStyle/>
          <a:p>
            <a:r>
              <a:rPr lang="en-US" dirty="0"/>
              <a:t>Design Patterns in C++</a:t>
            </a:r>
          </a:p>
        </p:txBody>
      </p:sp>
      <p:pic>
        <p:nvPicPr>
          <p:cNvPr id="7" name="Picture Placeholder 6" descr="A group of houses with red roofs">
            <a:extLst>
              <a:ext uri="{FF2B5EF4-FFF2-40B4-BE49-F238E27FC236}">
                <a16:creationId xmlns:a16="http://schemas.microsoft.com/office/drawing/2014/main" id="{AA6BCCFE-82B9-38D9-8EAD-75148B80BD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6128" y="0"/>
            <a:ext cx="6595872" cy="6858000"/>
          </a:xfrm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BEBE-2604-0B32-B054-5377E719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2400" dirty="0"/>
              <a:t>Design Patterns — The “Gang of Four”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62E9-6F76-D2A9-EC71-E48682A08A1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/>
            <a:r>
              <a:rPr lang="en-US" sz="1400" dirty="0"/>
              <a:t>Published in 1994 </a:t>
            </a:r>
          </a:p>
          <a:p>
            <a:pPr lvl="0"/>
            <a:r>
              <a:rPr lang="en-US" sz="1400" dirty="0"/>
              <a:t>Introduced 23 classic, reusable object-oriented design patterns</a:t>
            </a:r>
          </a:p>
          <a:p>
            <a:pPr lvl="0"/>
            <a:r>
              <a:rPr lang="en-US" sz="1400" dirty="0"/>
              <a:t>Organized into Creational, Structural, and Behavioral categories. </a:t>
            </a:r>
          </a:p>
          <a:p>
            <a:pPr lvl="0"/>
            <a:r>
              <a:rPr lang="en-US" sz="1400" dirty="0"/>
              <a:t>Proven solutions to recurring software design problems.</a:t>
            </a:r>
          </a:p>
          <a:p>
            <a:pPr marL="0" lvl="0" indent="0">
              <a:buNone/>
            </a:pPr>
            <a:endParaRPr lang="en-IN" sz="1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2358D58-1AEB-C482-6365-11B8F4EB28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" r="3426"/>
          <a:stretch>
            <a:fillRect/>
          </a:stretch>
        </p:blipFill>
        <p:spPr>
          <a:xfrm>
            <a:off x="7538935" y="293965"/>
            <a:ext cx="4380689" cy="6270070"/>
          </a:xfrm>
          <a:prstGeom prst="rect">
            <a:avLst/>
          </a:prstGeom>
          <a:blipFill dpi="0" rotWithShape="1">
            <a:blip r:embed="rId3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435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FA20E31-C501-7DC5-A068-D5E81FF5E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ctr"/>
          <a:lstStyle/>
          <a:p>
            <a:r>
              <a:rPr lang="en-US" dirty="0"/>
              <a:t>Creational Design Patterns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2221AE5-4E48-8018-581A-7C17FD5B9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/>
          <a:lstStyle/>
          <a:p>
            <a:r>
              <a:rPr lang="en-US" dirty="0"/>
              <a:t>Code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14E53-E310-4034-8196-71FD7C90C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42" b="-1"/>
          <a:stretch>
            <a:fillRect/>
          </a:stretch>
        </p:blipFill>
        <p:spPr>
          <a:xfrm>
            <a:off x="20" y="10"/>
            <a:ext cx="65849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42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8E8A-3094-7C18-FDC3-C8C654EE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Creational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2C4E-EDA6-884A-9BD7-CEB76958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Purpose:</a:t>
            </a:r>
            <a:r>
              <a:rPr lang="en-IN" dirty="0"/>
              <a:t> Provide flexible and reusable ways to </a:t>
            </a:r>
            <a:r>
              <a:rPr lang="en-IN" b="1" dirty="0"/>
              <a:t>create objects</a:t>
            </a:r>
            <a:r>
              <a:rPr lang="en-IN" dirty="0"/>
              <a:t>, while hiding or decoupling the object-creation logic from the code that uses them.</a:t>
            </a:r>
          </a:p>
          <a:p>
            <a:r>
              <a:rPr lang="en-IN" b="1" dirty="0"/>
              <a:t>The 5 </a:t>
            </a:r>
            <a:r>
              <a:rPr lang="en-IN" b="1" dirty="0" err="1"/>
              <a:t>GoF</a:t>
            </a:r>
            <a:r>
              <a:rPr lang="en-IN" b="1" dirty="0"/>
              <a:t> Creational Patterns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Singleton</a:t>
            </a:r>
            <a:r>
              <a:rPr lang="en-IN" dirty="0"/>
              <a:t> — Ensures a class has only one instance and provides a global access point.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Factory Method</a:t>
            </a:r>
            <a:r>
              <a:rPr lang="en-IN" dirty="0"/>
              <a:t> — Defines an interface for creating objects while allowing subclasses to decide what to instantiate.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Abstract Factory</a:t>
            </a:r>
            <a:r>
              <a:rPr lang="en-IN" dirty="0"/>
              <a:t> — Creates families of related objects without specifying their concrete classes.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Builder</a:t>
            </a:r>
            <a:r>
              <a:rPr lang="en-IN" dirty="0"/>
              <a:t> — Constructs complex objects step-by-step, allowing different representations of the same object.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Prototype</a:t>
            </a:r>
            <a:r>
              <a:rPr lang="en-IN" dirty="0"/>
              <a:t> — Creates new objects by </a:t>
            </a:r>
            <a:r>
              <a:rPr lang="en-IN" b="1" dirty="0"/>
              <a:t>cloning existing objects</a:t>
            </a:r>
            <a:r>
              <a:rPr lang="en-IN" dirty="0"/>
              <a:t>, useful when object creation is expensive.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35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AF58-42F8-BCB2-AEFF-20FEF263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C6582BA-EA4A-38D3-7780-55FBE3ED2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ctr"/>
          <a:lstStyle/>
          <a:p>
            <a:r>
              <a:rPr lang="en-US" dirty="0"/>
              <a:t>Structural Design Patterns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406C00-B4C2-4A84-F261-44D788EE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/>
          <a:lstStyle/>
          <a:p>
            <a:r>
              <a:rPr lang="en-US" dirty="0"/>
              <a:t>Code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12C8D-9BE6-8446-8130-D7B311057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r="1991"/>
          <a:stretch/>
        </p:blipFill>
        <p:spPr>
          <a:xfrm>
            <a:off x="302170" y="10"/>
            <a:ext cx="65849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242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88B12-4181-3D65-B040-9663126C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Structural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7A4D-89B0-0A49-B7A2-367600DF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Purpose:</a:t>
            </a:r>
            <a:r>
              <a:rPr lang="en-IN" dirty="0"/>
              <a:t> Define how classes and objects are </a:t>
            </a:r>
            <a:r>
              <a:rPr lang="en-IN" b="1" dirty="0"/>
              <a:t>composed and connected</a:t>
            </a:r>
            <a:r>
              <a:rPr lang="en-IN" dirty="0"/>
              <a:t> to form larger, flexible structures.</a:t>
            </a:r>
          </a:p>
          <a:p>
            <a:r>
              <a:rPr lang="en-IN" b="1" dirty="0"/>
              <a:t>The 7 </a:t>
            </a:r>
            <a:r>
              <a:rPr lang="en-IN" b="1" dirty="0" err="1"/>
              <a:t>GoF</a:t>
            </a:r>
            <a:r>
              <a:rPr lang="en-IN" b="1" dirty="0"/>
              <a:t> Structural Patterns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Adapter</a:t>
            </a:r>
            <a:r>
              <a:rPr lang="en-IN" dirty="0"/>
              <a:t> — Makes incompatible interfaces work together.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Bridge</a:t>
            </a:r>
            <a:r>
              <a:rPr lang="en-IN" dirty="0"/>
              <a:t> — Separates abstraction from implementation so both can evolve independently.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Composite</a:t>
            </a:r>
            <a:r>
              <a:rPr lang="en-IN" dirty="0"/>
              <a:t> — Treats individual objects and compositions of objects uniformly.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Decorator</a:t>
            </a:r>
            <a:r>
              <a:rPr lang="en-IN" dirty="0"/>
              <a:t> — Adds responsibilities or behaviour to objects dynamically.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Facade</a:t>
            </a:r>
            <a:r>
              <a:rPr lang="en-IN" dirty="0"/>
              <a:t> — Provides a simple interface to a complex subsystem.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Flyweight</a:t>
            </a:r>
            <a:r>
              <a:rPr lang="en-IN" dirty="0"/>
              <a:t> — Shares common data across many objects to reduce memory usage.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Proxy</a:t>
            </a:r>
            <a:r>
              <a:rPr lang="en-IN" dirty="0"/>
              <a:t> — Provides a substitute or placeholder that controls access to another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6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86DDE-F88D-D0D3-2557-EC5E97CE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165616A-069F-490E-3CC1-ED1F4AF52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ctr"/>
          <a:lstStyle/>
          <a:p>
            <a:r>
              <a:rPr lang="en-US" dirty="0"/>
              <a:t>Behavioral Design Patterns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C4BC7BE-FC76-1BF9-1CEC-E83F09133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/>
          <a:lstStyle/>
          <a:p>
            <a:r>
              <a:rPr lang="en-US" dirty="0"/>
              <a:t>Code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77AB7-1030-9CB8-0152-11ED0E85D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7" b="3107"/>
          <a:stretch/>
        </p:blipFill>
        <p:spPr>
          <a:xfrm>
            <a:off x="0" y="0"/>
            <a:ext cx="65849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770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C608-C901-793A-441C-47F4C62B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Behavioral</a:t>
            </a:r>
            <a:r>
              <a:rPr lang="en-IN" dirty="0"/>
              <a:t>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CDC4-FFCC-D2D8-C82F-43A4F1144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Purpose:</a:t>
            </a:r>
            <a:r>
              <a:rPr lang="en-IN" dirty="0"/>
              <a:t> Define how objects </a:t>
            </a:r>
            <a:r>
              <a:rPr lang="en-IN" b="1" dirty="0"/>
              <a:t>communicate, collaborate, and distribute responsibilities</a:t>
            </a:r>
            <a:r>
              <a:rPr lang="en-IN" dirty="0"/>
              <a:t>.</a:t>
            </a:r>
          </a:p>
          <a:p>
            <a:r>
              <a:rPr lang="en-IN" b="1" dirty="0"/>
              <a:t>The 11 </a:t>
            </a:r>
            <a:r>
              <a:rPr lang="en-IN" b="1" dirty="0" err="1"/>
              <a:t>GoF</a:t>
            </a:r>
            <a:r>
              <a:rPr lang="en-IN" b="1" dirty="0"/>
              <a:t> </a:t>
            </a:r>
            <a:r>
              <a:rPr lang="en-IN" b="1" dirty="0" err="1"/>
              <a:t>Behavioral</a:t>
            </a:r>
            <a:r>
              <a:rPr lang="en-IN" b="1" dirty="0"/>
              <a:t> Patterns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Chain of Responsibility</a:t>
            </a:r>
            <a:r>
              <a:rPr lang="en-IN" dirty="0"/>
              <a:t> — Passes a request through a chain of potential handlers.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Command</a:t>
            </a:r>
            <a:r>
              <a:rPr lang="en-IN" dirty="0"/>
              <a:t> — Encapsulates a request as an object, enabling operations such as undo/redo.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Interpreter</a:t>
            </a:r>
            <a:r>
              <a:rPr lang="en-IN" dirty="0"/>
              <a:t> — Defines a representation for a language and provides an interpreter.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Iterator</a:t>
            </a:r>
            <a:r>
              <a:rPr lang="en-IN" dirty="0"/>
              <a:t> — Provides a way to traverse a collection without exposing its internal structure.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Mediator</a:t>
            </a:r>
            <a:r>
              <a:rPr lang="en-IN" dirty="0"/>
              <a:t> — Centralizes communication between objects to reduce direct dependencies.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Memento</a:t>
            </a:r>
            <a:r>
              <a:rPr lang="en-IN" dirty="0"/>
              <a:t> — Captures and restores an object's previous state.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Observer</a:t>
            </a:r>
            <a:r>
              <a:rPr lang="en-IN" dirty="0"/>
              <a:t> — Notifies dependent objects when an object's state changes.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State</a:t>
            </a:r>
            <a:r>
              <a:rPr lang="en-IN" dirty="0"/>
              <a:t> — Allows an object to change its </a:t>
            </a:r>
            <a:r>
              <a:rPr lang="en-IN" dirty="0" err="1"/>
              <a:t>behavior</a:t>
            </a:r>
            <a:r>
              <a:rPr lang="en-IN" dirty="0"/>
              <a:t> when its internal state changes.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Strategy</a:t>
            </a:r>
            <a:r>
              <a:rPr lang="en-IN" dirty="0"/>
              <a:t> — Encapsulates interchangeable algorithms or </a:t>
            </a:r>
            <a:r>
              <a:rPr lang="en-IN" dirty="0" err="1"/>
              <a:t>behaviors</a:t>
            </a:r>
            <a:r>
              <a:rPr lang="en-IN" dirty="0"/>
              <a:t>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Template Method</a:t>
            </a:r>
            <a:r>
              <a:rPr lang="en-IN" dirty="0"/>
              <a:t> — Defines the skeleton of an algorithm while allowing subclasses to customize steps.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IN" b="1" dirty="0"/>
              <a:t>Visitor</a:t>
            </a:r>
            <a:r>
              <a:rPr lang="en-IN" dirty="0"/>
              <a:t> — Adds operations to object structures without modifying the objects themselves.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325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B5E428-03BE-794E-2E2B-F19110A04D03}"/>
              </a:ext>
            </a:extLst>
          </p:cNvPr>
          <p:cNvSpPr/>
          <p:nvPr/>
        </p:nvSpPr>
        <p:spPr>
          <a:xfrm>
            <a:off x="1858307" y="2967335"/>
            <a:ext cx="84753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Questions &amp; Discussions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4FB03-7F60-1EC3-E21D-2970356C2A50}"/>
              </a:ext>
            </a:extLst>
          </p:cNvPr>
          <p:cNvSpPr txBox="1"/>
          <p:nvPr/>
        </p:nvSpPr>
        <p:spPr>
          <a:xfrm>
            <a:off x="2897848" y="4921858"/>
            <a:ext cx="6396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2"/>
              </a:rPr>
              <a:t>https://github.com/jerrykorulla/design-patterns-examples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1291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CFDD150DD1E40AA3556600504D854" ma:contentTypeVersion="8" ma:contentTypeDescription="Create a new document." ma:contentTypeScope="" ma:versionID="6a49a2d3be3438259a80a0c3a3233358">
  <xsd:schema xmlns:xsd="http://www.w3.org/2001/XMLSchema" xmlns:xs="http://www.w3.org/2001/XMLSchema" xmlns:p="http://schemas.microsoft.com/office/2006/metadata/properties" xmlns:ns3="673597c9-b0fd-455c-97d8-30198b8597f9" targetNamespace="http://schemas.microsoft.com/office/2006/metadata/properties" ma:root="true" ma:fieldsID="2f36f107a64b3573030eb9ac7e6734bd" ns3:_="">
    <xsd:import namespace="673597c9-b0fd-455c-97d8-30198b8597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597c9-b0fd-455c-97d8-30198b8597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A2E174-8201-44C8-8E86-D532E6482AAF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73597c9-b0fd-455c-97d8-30198b8597f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93AD65-0173-46E2-8DAB-01A77A9CC4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3597c9-b0fd-455c-97d8-30198b8597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{D3A76028-0187-4221-9F68-0FF77734BEDA}9db5ba7a-f6a8-423e-8130-f3099013613b-TF6f351658-02aa-4255-a406-604a46294ca9_win32</Template>
  <TotalTime>190</TotalTime>
  <Words>452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Neue Haas Grotesk Text Pro</vt:lpstr>
      <vt:lpstr>Helena</vt:lpstr>
      <vt:lpstr>Design Patterns in C++</vt:lpstr>
      <vt:lpstr>Design Patterns — The “Gang of Four”</vt:lpstr>
      <vt:lpstr>Creational Design Patterns</vt:lpstr>
      <vt:lpstr>Creational Design Patterns</vt:lpstr>
      <vt:lpstr>Structural Design Patterns</vt:lpstr>
      <vt:lpstr>Structural Design Patterns</vt:lpstr>
      <vt:lpstr>Behavioral Design Patterns</vt:lpstr>
      <vt:lpstr>Behavioral Design Patterns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George</dc:creator>
  <cp:lastModifiedBy>Jerry George</cp:lastModifiedBy>
  <cp:revision>2</cp:revision>
  <dcterms:created xsi:type="dcterms:W3CDTF">2026-09-03T07:06:01Z</dcterms:created>
  <dcterms:modified xsi:type="dcterms:W3CDTF">2026-09-03T10:16:37Z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0x0101008DCCFDD150DD1E40AA3556600504D854</vt:lpwstr>
  </property>
</Properties>
</file>